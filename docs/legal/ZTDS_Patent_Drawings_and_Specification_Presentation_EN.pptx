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137160" cy="411480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280160"/>
            <a:ext cx="9875520" cy="4297680"/>
          </a:xfrm>
          <a:prstGeom prst="rect">
            <a:avLst/>
          </a:prstGeom>
          <a:noFill/>
        </p:spPr>
        <p:txBody>
          <a:bodyPr wrap="square">
            <a:spAutoFit/>
          </a:bodyPr>
          <a:lstStyle/>
          <a:p>
            <a:pPr>
              <a:defRPr sz="3200" b="1">
                <a:solidFill>
                  <a:srgbClr val="FFFFFF"/>
                </a:solidFill>
                <a:latin typeface="Arial"/>
              </a:defRPr>
            </a:pPr>
            <a:r>
              <a:t>ZTDS™: Zero-Trust Data Sanitization Architecture</a:t>
            </a:r>
          </a:p>
          <a:p>
            <a:pPr>
              <a:spcBef>
                <a:spcPts val="800"/>
              </a:spcBef>
              <a:defRPr sz="2000">
                <a:solidFill>
                  <a:srgbClr val="94A3B8"/>
                </a:solidFill>
                <a:latin typeface="Arial"/>
              </a:defRPr>
            </a:pPr>
            <a:r>
              <a:t>Patent Examination Technical Dossier &amp; Drawing Specification Guide</a:t>
            </a:r>
          </a:p>
          <a:p>
            <a:pPr>
              <a:spcBef>
                <a:spcPts val="1600"/>
              </a:spcBef>
              <a:defRPr sz="1300">
                <a:solidFill>
                  <a:srgbClr val="CBD5E1"/>
                </a:solidFill>
                <a:latin typeface="Arial"/>
              </a:defRPr>
            </a:pPr>
            <a:r>
              <a:t>A deterministic, client-side, in-memory sanitization method and hardware-attested execution architecture enforcing zero network cleartext egress in Artificial Intelligence (AI) and Large Language Model (LLM) workflows.</a:t>
            </a:r>
          </a:p>
          <a:p>
            <a:pPr>
              <a:spcBef>
                <a:spcPts val="2000"/>
              </a:spcBef>
              <a:defRPr sz="1200">
                <a:solidFill>
                  <a:srgbClr val="38BDF8"/>
                </a:solidFill>
                <a:latin typeface="Arial"/>
              </a:defRPr>
            </a:pPr>
            <a:r>
              <a:t>• Statutory Basis: Israel Priority Patent Application IL 331905 (Filed: 14/09/2026)</a:t>
            </a:r>
            <a:br/>
            <a:r>
              <a:t>• WIPO Digital Access Service (DAS) Code: B17B</a:t>
            </a:r>
            <a:br/>
            <a:r>
              <a:t>• Sole Applicant &amp; Lead Inventor: Ilya Sibiryakov</a:t>
            </a:r>
            <a:br/>
            <a:r>
              <a:t>• Prepared for: Patent Attorney Naftali (Continuation &amp; PCT Prosecution)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822960"/>
          </a:xfrm>
          <a:prstGeom prst="rect">
            <a:avLst/>
          </a:prstGeom>
          <a:noFill/>
        </p:spPr>
        <p:txBody>
          <a:bodyPr wrap="square">
            <a:spAutoFit/>
          </a:bodyPr>
          <a:lstStyle/>
          <a:p>
            <a:pPr>
              <a:defRPr sz="2100" b="1">
                <a:solidFill>
                  <a:srgbClr val="FFFFFF"/>
                </a:solidFill>
                <a:latin typeface="Arial"/>
              </a:defRPr>
            </a:pPr>
            <a:r>
              <a:t>Executive Invention Summary: What Specifically Are We Patenting?</a:t>
            </a:r>
          </a:p>
          <a:p>
            <a:pPr>
              <a:defRPr sz="1000" b="1">
                <a:solidFill>
                  <a:srgbClr val="38BDF8"/>
                </a:solidFill>
                <a:latin typeface="Arial"/>
              </a:defRPr>
            </a:pPr>
            <a:r>
              <a:t>INVENTION SCOPE &amp; CORE TECHNICAL DIFFERENTIATION</a:t>
            </a:r>
          </a:p>
        </p:txBody>
      </p:sp>
      <p:sp>
        <p:nvSpPr>
          <p:cNvPr id="4" name="Rounded Rectangle 3"/>
          <p:cNvSpPr/>
          <p:nvPr/>
        </p:nvSpPr>
        <p:spPr>
          <a:xfrm>
            <a:off x="731520" y="1371600"/>
            <a:ext cx="512064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defRPr sz="1400" b="1">
                <a:solidFill>
                  <a:srgbClr val="E11D48"/>
                </a:solidFill>
                <a:latin typeface="Arial"/>
              </a:defRPr>
            </a:pPr>
            <a:r>
              <a:t>1. THE TECHNOLOGICAL PROBLEM (PRIOR ART FLAWS)</a:t>
            </a:r>
          </a:p>
          <a:p>
            <a:pPr>
              <a:spcBef>
                <a:spcPts val="800"/>
              </a:spcBef>
              <a:defRPr sz="1100">
                <a:solidFill>
                  <a:srgbClr val="334155"/>
                </a:solidFill>
                <a:latin typeface="Arial"/>
              </a:defRPr>
            </a:pPr>
            <a:r>
              <a:t>• Egress Vulnerability in Cloud Proxies: Traditional Data Loss Prevention (DLP) tools route unmasked user text through intermediary cloud inspection servers. This exposes cleartext PII/secrets across networks and creates subprocessor liability under GDPR Art. 28.</a:t>
            </a:r>
          </a:p>
          <a:p>
            <a:pPr>
              <a:spcBef>
                <a:spcPts val="800"/>
              </a:spcBef>
              <a:defRPr sz="1100">
                <a:solidFill>
                  <a:srgbClr val="334155"/>
                </a:solidFill>
                <a:latin typeface="Arial"/>
              </a:defRPr>
            </a:pPr>
            <a:r>
              <a:t>• Attention Destruction in LLMs: Destructive redaction (e.g. replacing names with '[REDACTED]' or 'XXX') destroys semantic relationships in transformer attention mechanisms, causing AI models to return degraded or nonsensical output.</a:t>
            </a:r>
          </a:p>
          <a:p>
            <a:pPr>
              <a:spcBef>
                <a:spcPts val="800"/>
              </a:spcBef>
              <a:defRPr sz="1100">
                <a:solidFill>
                  <a:srgbClr val="334155"/>
                </a:solidFill>
                <a:latin typeface="Arial"/>
              </a:defRPr>
            </a:pPr>
            <a:r>
              <a:t>• Catastrophic Backtracking (ReDoS): Standard non-linear regex engines suffer from exponential latency spikes (50–500ms) on unstructured text payloads.</a:t>
            </a:r>
          </a:p>
          <a:p>
            <a:pPr>
              <a:spcBef>
                <a:spcPts val="800"/>
              </a:spcBef>
              <a:defRPr sz="1100">
                <a:solidFill>
                  <a:srgbClr val="334155"/>
                </a:solidFill>
                <a:latin typeface="Arial"/>
              </a:defRPr>
            </a:pPr>
            <a:r>
              <a:t>• Untrusted Return-Path Binding: Even if incoming requests are masked, prior art lacks cryptographic attestation binding enclave responses back to the local client session, causing cross-session context confusion.</a:t>
            </a:r>
          </a:p>
        </p:txBody>
      </p:sp>
      <p:sp>
        <p:nvSpPr>
          <p:cNvPr id="6" name="Rounded Rectangle 5"/>
          <p:cNvSpPr/>
          <p:nvPr/>
        </p:nvSpPr>
        <p:spPr>
          <a:xfrm>
            <a:off x="6217920" y="1371600"/>
            <a:ext cx="5212080" cy="4937760"/>
          </a:xfrm>
          <a:prstGeom prst="roundRect">
            <a:avLst/>
          </a:prstGeom>
          <a:solidFill>
            <a:srgbClr val="F0FDFA"/>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572000"/>
          </a:xfrm>
          <a:prstGeom prst="rect">
            <a:avLst/>
          </a:prstGeom>
          <a:noFill/>
        </p:spPr>
        <p:txBody>
          <a:bodyPr wrap="square">
            <a:spAutoFit/>
          </a:bodyPr>
          <a:lstStyle/>
          <a:p>
            <a:pPr>
              <a:defRPr sz="1400" b="1">
                <a:solidFill>
                  <a:srgbClr val="0D9488"/>
                </a:solidFill>
                <a:latin typeface="Arial"/>
              </a:defRPr>
            </a:pPr>
            <a:r>
              <a:t>2. THE PATENTED TECHNICAL SOLUTION (ZTDS CORE)</a:t>
            </a:r>
          </a:p>
          <a:p>
            <a:pPr>
              <a:spcBef>
                <a:spcPts val="800"/>
              </a:spcBef>
              <a:defRPr sz="1100">
                <a:solidFill>
                  <a:srgbClr val="0F172A"/>
                </a:solidFill>
                <a:latin typeface="Arial"/>
              </a:defRPr>
            </a:pPr>
            <a:r>
              <a:t>• Pre-Socket RAM Interception: Text is intercepted before socket serialization. Sanitization occurs strictly within volatile host memory locked against disk swapping (via mlock), ensuring zero cleartext network egress.</a:t>
            </a:r>
          </a:p>
          <a:p>
            <a:pPr>
              <a:spcBef>
                <a:spcPts val="800"/>
              </a:spcBef>
              <a:defRPr sz="1100">
                <a:solidFill>
                  <a:srgbClr val="0F172A"/>
                </a:solidFill>
                <a:latin typeface="Arial"/>
              </a:defRPr>
            </a:pPr>
            <a:r>
              <a:t>• Attention-Preserving Bijective Tokenization: Replaces sensitive entities with syntactic surrogates '[TYPE_N]' (e.g. [EMAIL_1]), preserving token positions, case, and attention matrices for upstream LLMs.</a:t>
            </a:r>
          </a:p>
          <a:p>
            <a:pPr>
              <a:spcBef>
                <a:spcPts val="800"/>
              </a:spcBef>
              <a:defRPr sz="1100">
                <a:solidFill>
                  <a:srgbClr val="0F172A"/>
                </a:solidFill>
                <a:latin typeface="Arial"/>
              </a:defRPr>
            </a:pPr>
            <a:r>
              <a:t>• Descending Character Offset Sorter: Replaces string spans from right-to-left (descending order), guaranteeing that token insertions never corrupt the character coordinates of earlier matches.</a:t>
            </a:r>
          </a:p>
          <a:p>
            <a:pPr>
              <a:spcBef>
                <a:spcPts val="800"/>
              </a:spcBef>
              <a:defRPr sz="1100">
                <a:solidFill>
                  <a:srgbClr val="0F172A"/>
                </a:solidFill>
                <a:latin typeface="Arial"/>
              </a:defRPr>
            </a:pPr>
            <a:r>
              <a:t>• Hardware-Attested Execution: Enclaves (AWS Nitro) execute without network cards (NICs) over private AF_VSOCK, gated by COSE cryptographic PCR attestation.</a:t>
            </a:r>
          </a:p>
          <a:p>
            <a:pPr>
              <a:spcBef>
                <a:spcPts val="800"/>
              </a:spcBef>
              <a:defRPr sz="1100">
                <a:solidFill>
                  <a:srgbClr val="0F172A"/>
                </a:solidFill>
                <a:latin typeface="Arial"/>
              </a:defRPr>
            </a:pPr>
            <a:r>
              <a:t>• Ephemeral Zeroization &amp; Return Binding: De-tokenizes responses locally using private RAM maps, followed by immediate cryptographic zeroization.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822960"/>
          </a:xfrm>
          <a:prstGeom prst="rect">
            <a:avLst/>
          </a:prstGeom>
          <a:noFill/>
        </p:spPr>
        <p:txBody>
          <a:bodyPr wrap="square">
            <a:spAutoFit/>
          </a:bodyPr>
          <a:lstStyle/>
          <a:p>
            <a:pPr>
              <a:defRPr sz="2100" b="1">
                <a:solidFill>
                  <a:srgbClr val="FFFFFF"/>
                </a:solidFill>
                <a:latin typeface="Arial"/>
              </a:defRPr>
            </a:pPr>
            <a:r>
              <a:t>FIG. 1: Three Decoupled Trust Planes Architecture (Sheet 1 of 6)</a:t>
            </a:r>
          </a:p>
          <a:p>
            <a:pPr>
              <a:defRPr sz="1000" b="1">
                <a:solidFill>
                  <a:srgbClr val="38BDF8"/>
                </a:solidFill>
                <a:latin typeface="Arial"/>
              </a:defRPr>
            </a:pPr>
            <a:r>
              <a:t>HIGH-LEVEL DISTRIBUTED SYSTEM HARDWARE &amp; SOFTWARE TOPOGRAPHY • IL 331905</a:t>
            </a:r>
          </a:p>
        </p:txBody>
      </p:sp>
      <p:pic>
        <p:nvPicPr>
          <p:cNvPr id="4" name="Picture 3" descr="sheet_1.png"/>
          <p:cNvPicPr>
            <a:picLocks noChangeAspect="1"/>
          </p:cNvPicPr>
          <p:nvPr/>
        </p:nvPicPr>
        <p:blipFill>
          <a:blip r:embed="rId2"/>
          <a:stretch>
            <a:fillRect/>
          </a:stretch>
        </p:blipFill>
        <p:spPr>
          <a:xfrm>
            <a:off x="548640" y="1234440"/>
            <a:ext cx="3721673" cy="5257800"/>
          </a:xfrm>
          <a:prstGeom prst="rect">
            <a:avLst/>
          </a:prstGeom>
        </p:spPr>
      </p:pic>
      <p:sp>
        <p:nvSpPr>
          <p:cNvPr id="5" name="Rounded Rectangle 4"/>
          <p:cNvSpPr/>
          <p:nvPr/>
        </p:nvSpPr>
        <p:spPr>
          <a:xfrm>
            <a:off x="4663440" y="1234440"/>
            <a:ext cx="6949440" cy="5257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325880"/>
            <a:ext cx="6583680" cy="5029200"/>
          </a:xfrm>
          <a:prstGeom prst="rect">
            <a:avLst/>
          </a:prstGeom>
          <a:noFill/>
        </p:spPr>
        <p:txBody>
          <a:bodyPr wrap="square">
            <a:spAutoFit/>
          </a:bodyPr>
          <a:lstStyle/>
          <a:p>
            <a:pPr>
              <a:defRPr sz="1200" b="1">
                <a:solidFill>
                  <a:srgbClr val="0F172A"/>
                </a:solidFill>
                <a:latin typeface="Arial"/>
              </a:defRPr>
            </a:pPr>
            <a:r>
              <a:t>WHAT FIG. 1 SHOWS &amp; HOW TO EXPLAIN IT TO EXAMINERS:</a:t>
            </a:r>
          </a:p>
          <a:p>
            <a:pPr>
              <a:spcBef>
                <a:spcPts val="400"/>
              </a:spcBef>
              <a:defRPr sz="1000">
                <a:solidFill>
                  <a:srgbClr val="334155"/>
                </a:solidFill>
                <a:latin typeface="Arial"/>
              </a:defRPr>
            </a:pPr>
            <a:r>
              <a:t>Physical Decoupling: Demonstrates three physically and logically isolated computing tiers operating without shared cleartext storage:</a:t>
            </a:r>
          </a:p>
          <a:p>
            <a:pPr>
              <a:spcBef>
                <a:spcPts val="400"/>
              </a:spcBef>
              <a:defRPr sz="1000">
                <a:solidFill>
                  <a:srgbClr val="334155"/>
                </a:solidFill>
                <a:latin typeface="Arial"/>
              </a:defRPr>
            </a:pPr>
            <a:r>
              <a:t>[100] Client Endpoint Plane: Runs on host device CPU and volatile RAM sandbox (Browser V8, IDE, CLI). Strictly isolated from persistent disk.</a:t>
            </a:r>
          </a:p>
          <a:p>
            <a:pPr>
              <a:spcBef>
                <a:spcPts val="400"/>
              </a:spcBef>
              <a:defRPr sz="1000">
                <a:solidFill>
                  <a:srgbClr val="334155"/>
                </a:solidFill>
                <a:latin typeface="Arial"/>
              </a:defRPr>
            </a:pPr>
            <a:r>
              <a:t>  • [102] User Cleartext Input Buffer: Unstructured text containing sensitive entities.</a:t>
            </a:r>
          </a:p>
          <a:p>
            <a:pPr>
              <a:spcBef>
                <a:spcPts val="400"/>
              </a:spcBef>
              <a:defRPr sz="1000">
                <a:solidFill>
                  <a:srgbClr val="334155"/>
                </a:solidFill>
                <a:latin typeface="Arial"/>
              </a:defRPr>
            </a:pPr>
            <a:r>
              <a:t>  • [104] Client DFA Engine (S_RAM): Linear O(N) regex scanner with zero ReDoS risk.</a:t>
            </a:r>
          </a:p>
          <a:p>
            <a:pPr>
              <a:spcBef>
                <a:spcPts val="400"/>
              </a:spcBef>
              <a:defRPr sz="1000">
                <a:solidFill>
                  <a:srgbClr val="334155"/>
                </a:solidFill>
                <a:latin typeface="Arial"/>
              </a:defRPr>
            </a:pPr>
            <a:r>
              <a:t>  • [106] Token Substitution Engine: Slices and replaces sensitive spans with tokens.</a:t>
            </a:r>
          </a:p>
          <a:p>
            <a:pPr>
              <a:spcBef>
                <a:spcPts val="400"/>
              </a:spcBef>
              <a:defRPr sz="1000">
                <a:solidFill>
                  <a:srgbClr val="334155"/>
                </a:solidFill>
                <a:latin typeface="Arial"/>
              </a:defRPr>
            </a:pPr>
            <a:r>
              <a:t>  • [108] Volatile Session Map (M_s): Bijective map in RAM; zeroized on session close.</a:t>
            </a:r>
          </a:p>
          <a:p>
            <a:pPr>
              <a:spcBef>
                <a:spcPts val="400"/>
              </a:spcBef>
              <a:defRPr sz="1000">
                <a:solidFill>
                  <a:srgbClr val="334155"/>
                </a:solidFill>
                <a:latin typeface="Arial"/>
              </a:defRPr>
            </a:pPr>
            <a:r>
              <a:t>  • [110] Sanitized Query Buffer (Q_T): Transmits tokens only (0 bytes cleartext egress).</a:t>
            </a:r>
          </a:p>
          <a:p>
            <a:pPr>
              <a:spcBef>
                <a:spcPts val="400"/>
              </a:spcBef>
              <a:defRPr sz="1000">
                <a:solidFill>
                  <a:srgbClr val="334155"/>
                </a:solidFill>
                <a:latin typeface="Arial"/>
              </a:defRPr>
            </a:pPr>
            <a:r>
              <a:t>  • [112] Local Rehydration Unit: Replaces tokens back to cleartext locally in user UI.</a:t>
            </a:r>
          </a:p>
          <a:p>
            <a:pPr>
              <a:spcBef>
                <a:spcPts val="400"/>
              </a:spcBef>
              <a:defRPr sz="1000">
                <a:solidFill>
                  <a:srgbClr val="334155"/>
                </a:solidFill>
                <a:latin typeface="Arial"/>
              </a:defRPr>
            </a:pPr>
            <a:r>
              <a:t>[200] Policy Decision Plane (PDP): Dedicated security verifier with hardware TRNG [202] generating 256-bit nonces, evidence appraisal [204], and session token gate [206].</a:t>
            </a:r>
          </a:p>
          <a:p>
            <a:pPr>
              <a:spcBef>
                <a:spcPts val="400"/>
              </a:spcBef>
              <a:defRPr sz="1000">
                <a:solidFill>
                  <a:srgbClr val="334155"/>
                </a:solidFill>
                <a:latin typeface="Arial"/>
              </a:defRPr>
            </a:pPr>
            <a:r>
              <a:t>[300] Hardware Confidential Enclave (AWS Nitro): Physical CPU enclave with zero network NICs, isolated AF_VSOCK link [302], hardware attester [304], and model AI core [306].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822960"/>
          </a:xfrm>
          <a:prstGeom prst="rect">
            <a:avLst/>
          </a:prstGeom>
          <a:noFill/>
        </p:spPr>
        <p:txBody>
          <a:bodyPr wrap="square">
            <a:spAutoFit/>
          </a:bodyPr>
          <a:lstStyle/>
          <a:p>
            <a:pPr>
              <a:defRPr sz="2100" b="1">
                <a:solidFill>
                  <a:srgbClr val="FFFFFF"/>
                </a:solidFill>
                <a:latin typeface="Arial"/>
              </a:defRPr>
            </a:pPr>
            <a:r>
              <a:t>FIG. 2: 7-Phase Remote Hardware Attestation Protocol (Sheet 2 of 6)</a:t>
            </a:r>
          </a:p>
          <a:p>
            <a:pPr>
              <a:defRPr sz="1000" b="1">
                <a:solidFill>
                  <a:srgbClr val="38BDF8"/>
                </a:solidFill>
                <a:latin typeface="Arial"/>
              </a:defRPr>
            </a:pPr>
            <a:r>
              <a:t>BIDIRECTIONAL CRYPTOGRAPHIC LIFE-CYCLE &amp; FAIL-CLOSED SESSION BINDING • IL 331905</a:t>
            </a:r>
          </a:p>
        </p:txBody>
      </p:sp>
      <p:pic>
        <p:nvPicPr>
          <p:cNvPr id="4" name="Picture 3" descr="sheet_2.png"/>
          <p:cNvPicPr>
            <a:picLocks noChangeAspect="1"/>
          </p:cNvPicPr>
          <p:nvPr/>
        </p:nvPicPr>
        <p:blipFill>
          <a:blip r:embed="rId2"/>
          <a:stretch>
            <a:fillRect/>
          </a:stretch>
        </p:blipFill>
        <p:spPr>
          <a:xfrm>
            <a:off x="548640" y="1234440"/>
            <a:ext cx="3721673" cy="5257800"/>
          </a:xfrm>
          <a:prstGeom prst="rect">
            <a:avLst/>
          </a:prstGeom>
        </p:spPr>
      </p:pic>
      <p:sp>
        <p:nvSpPr>
          <p:cNvPr id="5" name="Rounded Rectangle 4"/>
          <p:cNvSpPr/>
          <p:nvPr/>
        </p:nvSpPr>
        <p:spPr>
          <a:xfrm>
            <a:off x="4663440" y="1234440"/>
            <a:ext cx="6949440" cy="5257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325880"/>
            <a:ext cx="6583680" cy="5029200"/>
          </a:xfrm>
          <a:prstGeom prst="rect">
            <a:avLst/>
          </a:prstGeom>
          <a:noFill/>
        </p:spPr>
        <p:txBody>
          <a:bodyPr wrap="square">
            <a:spAutoFit/>
          </a:bodyPr>
          <a:lstStyle/>
          <a:p>
            <a:pPr>
              <a:defRPr sz="1200" b="1">
                <a:solidFill>
                  <a:srgbClr val="0F172A"/>
                </a:solidFill>
                <a:latin typeface="Arial"/>
              </a:defRPr>
            </a:pPr>
            <a:r>
              <a:t>THE 7 DISCRETE STEPS CLAIMED IN THE SPECIFICATION:</a:t>
            </a:r>
          </a:p>
          <a:p>
            <a:pPr>
              <a:spcBef>
                <a:spcPts val="400"/>
              </a:spcBef>
              <a:defRPr sz="1000">
                <a:solidFill>
                  <a:srgbClr val="334155"/>
                </a:solidFill>
                <a:latin typeface="Arial"/>
              </a:defRPr>
            </a:pPr>
            <a:r>
              <a:t>Step 1 (Fresh Challenge): Policy Decision Point [200] generates a fresh 256-bit cryptographic nonce (n_e) to prevent replay attacks.</a:t>
            </a:r>
          </a:p>
          <a:p>
            <a:pPr>
              <a:spcBef>
                <a:spcPts val="400"/>
              </a:spcBef>
              <a:defRPr sz="1000">
                <a:solidFill>
                  <a:srgbClr val="334155"/>
                </a:solidFill>
                <a:latin typeface="Arial"/>
              </a:defRPr>
            </a:pPr>
            <a:r>
              <a:t>Step 2 (Hardware Evidence Generation): Enclave Security Module (NSM) [304] signs PCR0 (image hash), PCR1 (kernel hash), and PCR2 (app hash) with n_e via COSE.</a:t>
            </a:r>
          </a:p>
          <a:p>
            <a:pPr>
              <a:spcBef>
                <a:spcPts val="400"/>
              </a:spcBef>
              <a:defRPr sz="1000">
                <a:solidFill>
                  <a:srgbClr val="334155"/>
                </a:solidFill>
                <a:latin typeface="Arial"/>
              </a:defRPr>
            </a:pPr>
            <a:r>
              <a:t>Step 3 (Appraisal &amp; CA Audit): PDP verifies the digital signature chain against the hardware manufacturer's Root of Trust (AWS Nitro CA).</a:t>
            </a:r>
          </a:p>
          <a:p>
            <a:pPr>
              <a:spcBef>
                <a:spcPts val="400"/>
              </a:spcBef>
              <a:defRPr sz="1000">
                <a:solidFill>
                  <a:srgbClr val="334155"/>
                </a:solidFill>
                <a:latin typeface="Arial"/>
              </a:defRPr>
            </a:pPr>
            <a:r>
              <a:t>Step 4 (Scoped Authorization Token): PDP mints a short-lived authorization ticket (τ_s) cryptographically bound to the enclave identity and PCR measurements.</a:t>
            </a:r>
          </a:p>
          <a:p>
            <a:pPr>
              <a:spcBef>
                <a:spcPts val="400"/>
              </a:spcBef>
              <a:defRPr sz="1000">
                <a:solidFill>
                  <a:srgbClr val="334155"/>
                </a:solidFill>
                <a:latin typeface="Arial"/>
              </a:defRPr>
            </a:pPr>
            <a:r>
              <a:t>Step 5a (Volatile In-Memory Sanitization): Client Endpoint sanitizes prompt in RAM, populates volatile bijective map M_s, and locks memory.</a:t>
            </a:r>
          </a:p>
          <a:p>
            <a:pPr>
              <a:spcBef>
                <a:spcPts val="400"/>
              </a:spcBef>
              <a:defRPr sz="1000">
                <a:solidFill>
                  <a:srgbClr val="334155"/>
                </a:solidFill>
                <a:latin typeface="Arial"/>
              </a:defRPr>
            </a:pPr>
            <a:r>
              <a:t>Step 5b (Authorized Dispatch): Sanitized query Q_T and ticket τ_s are transmitted over air-gapped AF_VSOCK. Enclave processes inference on masked tokens.</a:t>
            </a:r>
          </a:p>
          <a:p>
            <a:pPr>
              <a:spcBef>
                <a:spcPts val="400"/>
              </a:spcBef>
              <a:defRPr sz="1000">
                <a:solidFill>
                  <a:srgbClr val="334155"/>
                </a:solidFill>
                <a:latin typeface="Arial"/>
              </a:defRPr>
            </a:pPr>
            <a:r>
              <a:t>Step 6 (Tokenized Enclave Return): Enclave returns tokenized inference response R_T.</a:t>
            </a:r>
          </a:p>
          <a:p>
            <a:pPr>
              <a:spcBef>
                <a:spcPts val="400"/>
              </a:spcBef>
              <a:defRPr sz="1000">
                <a:solidFill>
                  <a:srgbClr val="334155"/>
                </a:solidFill>
                <a:latin typeface="Arial"/>
              </a:defRPr>
            </a:pPr>
            <a:r>
              <a:t>Step 7 (Local Client Rehydration): Client UI restores cleartext in local RAM via M_s. Immediate zeroization ensures zero residual persistence.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822960"/>
          </a:xfrm>
          <a:prstGeom prst="rect">
            <a:avLst/>
          </a:prstGeom>
          <a:noFill/>
        </p:spPr>
        <p:txBody>
          <a:bodyPr wrap="square">
            <a:spAutoFit/>
          </a:bodyPr>
          <a:lstStyle/>
          <a:p>
            <a:pPr>
              <a:defRPr sz="2100" b="1">
                <a:solidFill>
                  <a:srgbClr val="FFFFFF"/>
                </a:solidFill>
                <a:latin typeface="Arial"/>
              </a:defRPr>
            </a:pPr>
            <a:r>
              <a:t>FIG. 3: Client-Side S_RAM Engine &amp; Descending Sorter (Sheet 3 of 6)</a:t>
            </a:r>
          </a:p>
          <a:p>
            <a:pPr>
              <a:defRPr sz="1000" b="1">
                <a:solidFill>
                  <a:srgbClr val="38BDF8"/>
                </a:solidFill>
                <a:latin typeface="Arial"/>
              </a:defRPr>
            </a:pPr>
            <a:r>
              <a:t>IN-MEMORY LEXICAL PROCESSING &amp; INDEX CORRUPTION PREVENTION MECHANISM • IL 331905</a:t>
            </a:r>
          </a:p>
        </p:txBody>
      </p:sp>
      <p:pic>
        <p:nvPicPr>
          <p:cNvPr id="4" name="Picture 3" descr="sheet_3.png"/>
          <p:cNvPicPr>
            <a:picLocks noChangeAspect="1"/>
          </p:cNvPicPr>
          <p:nvPr/>
        </p:nvPicPr>
        <p:blipFill>
          <a:blip r:embed="rId2"/>
          <a:stretch>
            <a:fillRect/>
          </a:stretch>
        </p:blipFill>
        <p:spPr>
          <a:xfrm>
            <a:off x="548640" y="1234440"/>
            <a:ext cx="3721673" cy="5257800"/>
          </a:xfrm>
          <a:prstGeom prst="rect">
            <a:avLst/>
          </a:prstGeom>
        </p:spPr>
      </p:pic>
      <p:sp>
        <p:nvSpPr>
          <p:cNvPr id="5" name="Rounded Rectangle 4"/>
          <p:cNvSpPr/>
          <p:nvPr/>
        </p:nvSpPr>
        <p:spPr>
          <a:xfrm>
            <a:off x="4663440" y="1234440"/>
            <a:ext cx="6949440" cy="5257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325880"/>
            <a:ext cx="6583680" cy="5029200"/>
          </a:xfrm>
          <a:prstGeom prst="rect">
            <a:avLst/>
          </a:prstGeom>
          <a:noFill/>
        </p:spPr>
        <p:txBody>
          <a:bodyPr wrap="square">
            <a:spAutoFit/>
          </a:bodyPr>
          <a:lstStyle/>
          <a:p>
            <a:pPr>
              <a:defRPr sz="1200" b="1">
                <a:solidFill>
                  <a:srgbClr val="0F172A"/>
                </a:solidFill>
                <a:latin typeface="Arial"/>
              </a:defRPr>
            </a:pPr>
            <a:r>
              <a:t>THE CRUCIAL INVENTIVE STEP (DESCENDING CHARACTER Sorter [308]):</a:t>
            </a:r>
          </a:p>
          <a:p>
            <a:pPr>
              <a:spcBef>
                <a:spcPts val="400"/>
              </a:spcBef>
              <a:defRPr sz="1000">
                <a:solidFill>
                  <a:srgbClr val="334155"/>
                </a:solidFill>
                <a:latin typeface="Arial"/>
              </a:defRPr>
            </a:pPr>
            <a:r>
              <a:t>[302] Raw Input Stream Buffer: Receives unbounded cleartext streams.</a:t>
            </a:r>
          </a:p>
          <a:p>
            <a:pPr>
              <a:spcBef>
                <a:spcPts val="400"/>
              </a:spcBef>
              <a:defRPr sz="1000">
                <a:solidFill>
                  <a:srgbClr val="334155"/>
                </a:solidFill>
                <a:latin typeface="Arial"/>
              </a:defRPr>
            </a:pPr>
            <a:r>
              <a:t>[304] Multi-Profile DFA Lexical Matcher: 4 specialized parallel profiles:</a:t>
            </a:r>
          </a:p>
          <a:p>
            <a:pPr>
              <a:spcBef>
                <a:spcPts val="400"/>
              </a:spcBef>
              <a:defRPr sz="1000">
                <a:solidFill>
                  <a:srgbClr val="334155"/>
                </a:solidFill>
                <a:latin typeface="Arial"/>
              </a:defRPr>
            </a:pPr>
            <a:r>
              <a:t>  • [304A] General Profile: Personal names, national IDs/SSNs, phones, emails.</a:t>
            </a:r>
          </a:p>
          <a:p>
            <a:pPr>
              <a:spcBef>
                <a:spcPts val="400"/>
              </a:spcBef>
              <a:defRPr sz="1000">
                <a:solidFill>
                  <a:srgbClr val="334155"/>
                </a:solidFill>
                <a:latin typeface="Arial"/>
              </a:defRPr>
            </a:pPr>
            <a:r>
              <a:t>  • [304B] Financial Profile: IBAN accounts, routing numbers, GL accounts, W-2 fields.</a:t>
            </a:r>
          </a:p>
          <a:p>
            <a:pPr>
              <a:spcBef>
                <a:spcPts val="400"/>
              </a:spcBef>
              <a:defRPr sz="1000">
                <a:solidFill>
                  <a:srgbClr val="334155"/>
                </a:solidFill>
                <a:latin typeface="Arial"/>
              </a:defRPr>
            </a:pPr>
            <a:r>
              <a:t>  • [304C] Medical Profile: 18 HIPAA Safe Harbor identifiers, clinical MRN codes.</a:t>
            </a:r>
          </a:p>
          <a:p>
            <a:pPr>
              <a:spcBef>
                <a:spcPts val="400"/>
              </a:spcBef>
              <a:defRPr sz="1000">
                <a:solidFill>
                  <a:srgbClr val="334155"/>
                </a:solidFill>
                <a:latin typeface="Arial"/>
              </a:defRPr>
            </a:pPr>
            <a:r>
              <a:t>  • [304D] DevOps / API Profile: AWS keys, JWT tokens, DB URIs, private keys.</a:t>
            </a:r>
          </a:p>
          <a:p>
            <a:pPr>
              <a:spcBef>
                <a:spcPts val="400"/>
              </a:spcBef>
              <a:defRPr sz="1000">
                <a:solidFill>
                  <a:srgbClr val="334155"/>
                </a:solidFill>
                <a:latin typeface="Arial"/>
              </a:defRPr>
            </a:pPr>
            <a:r>
              <a:t>[306] Offset Extraction Buffer: Captures tuple {type, start_offset, end_offset, cleartext}.</a:t>
            </a:r>
          </a:p>
          <a:p>
            <a:pPr>
              <a:spcBef>
                <a:spcPts val="400"/>
              </a:spcBef>
              <a:defRPr sz="1000">
                <a:solidFill>
                  <a:srgbClr val="334155"/>
                </a:solidFill>
                <a:latin typeface="Arial"/>
              </a:defRPr>
            </a:pPr>
            <a:r>
              <a:t>[308] Descending Character Offset Sorter (CORE MECHANICAL INVENTIVE STEP):</a:t>
            </a:r>
          </a:p>
          <a:p>
            <a:pPr>
              <a:spcBef>
                <a:spcPts val="400"/>
              </a:spcBef>
              <a:defRPr sz="1000">
                <a:solidFill>
                  <a:srgbClr val="334155"/>
                </a:solidFill>
                <a:latin typeface="Arial"/>
              </a:defRPr>
            </a:pPr>
            <a:r>
              <a:t>  • Technical Problem: Substituting a variable-length string (e.g. 20 chars) with a fixed-length token (e.g. 8 chars) alters character index positions downstream.</a:t>
            </a:r>
          </a:p>
          <a:p>
            <a:pPr>
              <a:spcBef>
                <a:spcPts val="400"/>
              </a:spcBef>
              <a:defRPr sz="1000">
                <a:solidFill>
                  <a:srgbClr val="334155"/>
                </a:solidFill>
                <a:latin typeface="Arial"/>
              </a:defRPr>
            </a:pPr>
            <a:r>
              <a:t>  • Solution: Matches are sorted by start_offset in DESCENDING order (right-to-left). Substituting backwards guarantees earlier character coordinates are never corrupted.</a:t>
            </a:r>
          </a:p>
          <a:p>
            <a:pPr>
              <a:spcBef>
                <a:spcPts val="400"/>
              </a:spcBef>
              <a:defRPr sz="1000">
                <a:solidFill>
                  <a:srgbClr val="334155"/>
                </a:solidFill>
                <a:latin typeface="Arial"/>
              </a:defRPr>
            </a:pPr>
            <a:r>
              <a:t>[310] Token Allocator -&gt; [312] Volatile Map M_s -&gt; [314] Q_T Output -&gt; [316] Detokenizer.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822960"/>
          </a:xfrm>
          <a:prstGeom prst="rect">
            <a:avLst/>
          </a:prstGeom>
          <a:noFill/>
        </p:spPr>
        <p:txBody>
          <a:bodyPr wrap="square">
            <a:spAutoFit/>
          </a:bodyPr>
          <a:lstStyle/>
          <a:p>
            <a:pPr>
              <a:defRPr sz="2100" b="1">
                <a:solidFill>
                  <a:srgbClr val="FFFFFF"/>
                </a:solidFill>
                <a:latin typeface="Arial"/>
              </a:defRPr>
            </a:pPr>
            <a:r>
              <a:t>FIG. 4: Empirical Latency &amp; Throughput Scaling (Sheet 4 of 6)</a:t>
            </a:r>
          </a:p>
          <a:p>
            <a:pPr>
              <a:defRPr sz="1000" b="1">
                <a:solidFill>
                  <a:srgbClr val="38BDF8"/>
                </a:solidFill>
                <a:latin typeface="Arial"/>
              </a:defRPr>
            </a:pPr>
            <a:r>
              <a:t>STATUTORY PROOF OF TECHNICAL EFFECT &amp; IMPROVEMENT IN COMPUTER FUNCTIONALITY • IL 331905</a:t>
            </a:r>
          </a:p>
        </p:txBody>
      </p:sp>
      <p:pic>
        <p:nvPicPr>
          <p:cNvPr id="4" name="Picture 3" descr="sheet_4.png"/>
          <p:cNvPicPr>
            <a:picLocks noChangeAspect="1"/>
          </p:cNvPicPr>
          <p:nvPr/>
        </p:nvPicPr>
        <p:blipFill>
          <a:blip r:embed="rId2"/>
          <a:stretch>
            <a:fillRect/>
          </a:stretch>
        </p:blipFill>
        <p:spPr>
          <a:xfrm>
            <a:off x="548640" y="1234440"/>
            <a:ext cx="3721673" cy="5257800"/>
          </a:xfrm>
          <a:prstGeom prst="rect">
            <a:avLst/>
          </a:prstGeom>
        </p:spPr>
      </p:pic>
      <p:sp>
        <p:nvSpPr>
          <p:cNvPr id="5" name="Rounded Rectangle 4"/>
          <p:cNvSpPr/>
          <p:nvPr/>
        </p:nvSpPr>
        <p:spPr>
          <a:xfrm>
            <a:off x="4663440" y="1234440"/>
            <a:ext cx="6949440" cy="5257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325880"/>
            <a:ext cx="6583680" cy="5029200"/>
          </a:xfrm>
          <a:prstGeom prst="rect">
            <a:avLst/>
          </a:prstGeom>
          <a:noFill/>
        </p:spPr>
        <p:txBody>
          <a:bodyPr wrap="square">
            <a:spAutoFit/>
          </a:bodyPr>
          <a:lstStyle/>
          <a:p>
            <a:pPr>
              <a:defRPr sz="1200" b="1">
                <a:solidFill>
                  <a:srgbClr val="0F172A"/>
                </a:solidFill>
                <a:latin typeface="Arial"/>
              </a:defRPr>
            </a:pPr>
            <a:r>
              <a:t>OVERCOMING ALICE / 35 U.S.C. § 101 WITH MEASURABLE DATA:</a:t>
            </a:r>
          </a:p>
          <a:p>
            <a:pPr>
              <a:spcBef>
                <a:spcPts val="400"/>
              </a:spcBef>
              <a:defRPr sz="1000">
                <a:solidFill>
                  <a:srgbClr val="334155"/>
                </a:solidFill>
                <a:latin typeface="Arial"/>
              </a:defRPr>
            </a:pPr>
            <a:r>
              <a:t>Legal Purpose: Proves to patent examiners that ZTDS is not an abstract concept, but provides a decisive, measurable technical improvement in computer network performance:</a:t>
            </a:r>
          </a:p>
          <a:p>
            <a:pPr>
              <a:spcBef>
                <a:spcPts val="400"/>
              </a:spcBef>
              <a:defRPr sz="1000">
                <a:solidFill>
                  <a:srgbClr val="334155"/>
                </a:solidFill>
                <a:latin typeface="Arial"/>
              </a:defRPr>
            </a:pPr>
            <a:r>
              <a:t>FIG. 4A: Mean Latency Scaling vs Payload Size (Lower is better):</a:t>
            </a:r>
          </a:p>
          <a:p>
            <a:pPr>
              <a:spcBef>
                <a:spcPts val="400"/>
              </a:spcBef>
              <a:defRPr sz="1000">
                <a:solidFill>
                  <a:srgbClr val="334155"/>
                </a:solidFill>
                <a:latin typeface="Arial"/>
              </a:defRPr>
            </a:pPr>
            <a:r>
              <a:t>  • 1 KiB Payload: ZTDS achieves 0.553 ms mean latency vs 0.929 ms for centralized HTTPS DLP proxies (1.68x faster).</a:t>
            </a:r>
          </a:p>
          <a:p>
            <a:pPr>
              <a:spcBef>
                <a:spcPts val="400"/>
              </a:spcBef>
              <a:defRPr sz="1000">
                <a:solidFill>
                  <a:srgbClr val="334155"/>
                </a:solidFill>
                <a:latin typeface="Arial"/>
              </a:defRPr>
            </a:pPr>
            <a:r>
              <a:t>  • 4 KiB Payload: ZTDS achieves 1.360 ms vs 1.768 ms (1.30x faster).</a:t>
            </a:r>
          </a:p>
          <a:p>
            <a:pPr>
              <a:spcBef>
                <a:spcPts val="400"/>
              </a:spcBef>
              <a:defRPr sz="1000">
                <a:solidFill>
                  <a:srgbClr val="334155"/>
                </a:solidFill>
                <a:latin typeface="Arial"/>
              </a:defRPr>
            </a:pPr>
            <a:r>
              <a:t>  • Convergence at 16–64 KiB as payload serialization dominates fixed network overhead.</a:t>
            </a:r>
          </a:p>
          <a:p>
            <a:pPr>
              <a:spcBef>
                <a:spcPts val="400"/>
              </a:spcBef>
              <a:defRPr sz="1000">
                <a:solidFill>
                  <a:srgbClr val="334155"/>
                </a:solidFill>
                <a:latin typeface="Arial"/>
              </a:defRPr>
            </a:pPr>
            <a:r>
              <a:t>FIG. 4B: Steady-State Throughput Scaling (Higher is better):</a:t>
            </a:r>
          </a:p>
          <a:p>
            <a:pPr>
              <a:spcBef>
                <a:spcPts val="400"/>
              </a:spcBef>
              <a:defRPr sz="1000">
                <a:solidFill>
                  <a:srgbClr val="334155"/>
                </a:solidFill>
                <a:latin typeface="Arial"/>
              </a:defRPr>
            </a:pPr>
            <a:r>
              <a:t>  • 1 KiB Payload: ZTDS sustains 1,808 Requests Per Second (RPS) vs 1,057 RPS for proxies (1.71x higher throughput advantage).</a:t>
            </a:r>
          </a:p>
          <a:p>
            <a:pPr>
              <a:spcBef>
                <a:spcPts val="400"/>
              </a:spcBef>
              <a:defRPr sz="1000">
                <a:solidFill>
                  <a:srgbClr val="334155"/>
                </a:solidFill>
                <a:latin typeface="Arial"/>
              </a:defRPr>
            </a:pPr>
            <a:r>
              <a:t>  • 4 KiB Payload: ZTDS sustains 735 RPS vs 556 RPS (1.32x higher throughput).</a:t>
            </a:r>
          </a:p>
          <a:p>
            <a:pPr>
              <a:spcBef>
                <a:spcPts val="400"/>
              </a:spcBef>
              <a:defRPr sz="1000">
                <a:solidFill>
                  <a:srgbClr val="334155"/>
                </a:solidFill>
                <a:latin typeface="Arial"/>
              </a:defRPr>
            </a:pPr>
            <a:r>
              <a:t>Root Cause of Technical Superiority: Eliminating the extra network round-trip time (RTT) to centralized cloud inspection proxies.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822960"/>
          </a:xfrm>
          <a:prstGeom prst="rect">
            <a:avLst/>
          </a:prstGeom>
          <a:noFill/>
        </p:spPr>
        <p:txBody>
          <a:bodyPr wrap="square">
            <a:spAutoFit/>
          </a:bodyPr>
          <a:lstStyle/>
          <a:p>
            <a:pPr>
              <a:defRPr sz="2100" b="1">
                <a:solidFill>
                  <a:srgbClr val="FFFFFF"/>
                </a:solidFill>
                <a:latin typeface="Arial"/>
              </a:defRPr>
            </a:pPr>
            <a:r>
              <a:t>FIG. 5: Validation Matrix &amp; Hardware Egress Verification (Sheet 5 of 6)</a:t>
            </a:r>
          </a:p>
          <a:p>
            <a:pPr>
              <a:defRPr sz="1000" b="1">
                <a:solidFill>
                  <a:srgbClr val="38BDF8"/>
                </a:solidFill>
                <a:latin typeface="Arial"/>
              </a:defRPr>
            </a:pPr>
            <a:r>
              <a:t>EMPIRICAL HELD-OUT VALIDATION &amp; VERIFIABLE ZERO-EGRESS INVARIANTS • IL 331905</a:t>
            </a:r>
          </a:p>
        </p:txBody>
      </p:sp>
      <p:pic>
        <p:nvPicPr>
          <p:cNvPr id="4" name="Picture 3" descr="sheet_5.png"/>
          <p:cNvPicPr>
            <a:picLocks noChangeAspect="1"/>
          </p:cNvPicPr>
          <p:nvPr/>
        </p:nvPicPr>
        <p:blipFill>
          <a:blip r:embed="rId2"/>
          <a:stretch>
            <a:fillRect/>
          </a:stretch>
        </p:blipFill>
        <p:spPr>
          <a:xfrm>
            <a:off x="548640" y="1234440"/>
            <a:ext cx="3721673" cy="5257800"/>
          </a:xfrm>
          <a:prstGeom prst="rect">
            <a:avLst/>
          </a:prstGeom>
        </p:spPr>
      </p:pic>
      <p:sp>
        <p:nvSpPr>
          <p:cNvPr id="5" name="Rounded Rectangle 4"/>
          <p:cNvSpPr/>
          <p:nvPr/>
        </p:nvSpPr>
        <p:spPr>
          <a:xfrm>
            <a:off x="4663440" y="1234440"/>
            <a:ext cx="6949440" cy="5257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325880"/>
            <a:ext cx="6583680" cy="5029200"/>
          </a:xfrm>
          <a:prstGeom prst="rect">
            <a:avLst/>
          </a:prstGeom>
          <a:noFill/>
        </p:spPr>
        <p:txBody>
          <a:bodyPr wrap="square">
            <a:spAutoFit/>
          </a:bodyPr>
          <a:lstStyle/>
          <a:p>
            <a:pPr>
              <a:defRPr sz="1200" b="1">
                <a:solidFill>
                  <a:srgbClr val="0F172A"/>
                </a:solidFill>
                <a:latin typeface="Arial"/>
              </a:defRPr>
            </a:pPr>
            <a:r>
              <a:t>EVIDENTIARY AUDIT PROOFS CLAIMED IN THE SPECIFICATION:</a:t>
            </a:r>
          </a:p>
          <a:p>
            <a:pPr>
              <a:spcBef>
                <a:spcPts val="400"/>
              </a:spcBef>
              <a:defRPr sz="1000">
                <a:solidFill>
                  <a:srgbClr val="334155"/>
                </a:solidFill>
                <a:latin typeface="Arial"/>
              </a:defRPr>
            </a:pPr>
            <a:r>
              <a:t>[500] Held-Out Detector Validation Matrix: Evaluated on 1,925 frozen annotated enterprise entities across 3 real-world synthetic distributions:</a:t>
            </a:r>
          </a:p>
          <a:p>
            <a:pPr>
              <a:spcBef>
                <a:spcPts val="400"/>
              </a:spcBef>
              <a:defRPr sz="1000">
                <a:solidFill>
                  <a:srgbClr val="334155"/>
                </a:solidFill>
                <a:latin typeface="Arial"/>
              </a:defRPr>
            </a:pPr>
            <a:r>
              <a:t>  • [502A] W-2 Corporate Payroll (625 entities): Precision 1.000, Recall 1.000, F1 1.000.</a:t>
            </a:r>
          </a:p>
          <a:p>
            <a:pPr>
              <a:spcBef>
                <a:spcPts val="400"/>
              </a:spcBef>
              <a:defRPr sz="1000">
                <a:solidFill>
                  <a:srgbClr val="334155"/>
                </a:solidFill>
                <a:latin typeface="Arial"/>
              </a:defRPr>
            </a:pPr>
            <a:r>
              <a:t>  • [502B] Clinical Notes / EHR (600 entities): Precision 1.000, Recall 1.000, F1 1.000.</a:t>
            </a:r>
          </a:p>
          <a:p>
            <a:pPr>
              <a:spcBef>
                <a:spcPts val="400"/>
              </a:spcBef>
              <a:defRPr sz="1000">
                <a:solidFill>
                  <a:srgbClr val="334155"/>
                </a:solidFill>
                <a:latin typeface="Arial"/>
              </a:defRPr>
            </a:pPr>
            <a:r>
              <a:t>  • [502C] DevOps / Cloud Code Logs (700 entities): Precision 1.000, Recall 1.000, F1 1.000.</a:t>
            </a:r>
          </a:p>
          <a:p>
            <a:pPr>
              <a:spcBef>
                <a:spcPts val="400"/>
              </a:spcBef>
              <a:defRPr sz="1000">
                <a:solidFill>
                  <a:srgbClr val="334155"/>
                </a:solidFill>
                <a:latin typeface="Arial"/>
              </a:defRPr>
            </a:pPr>
            <a:r>
              <a:t>  • [504] Aggregate: 1,925/1,925 verified with zero false positives or false negatives.</a:t>
            </a:r>
          </a:p>
          <a:p>
            <a:pPr>
              <a:spcBef>
                <a:spcPts val="400"/>
              </a:spcBef>
              <a:defRPr sz="1000">
                <a:solidFill>
                  <a:srgbClr val="334155"/>
                </a:solidFill>
                <a:latin typeface="Arial"/>
              </a:defRPr>
            </a:pPr>
            <a:r>
              <a:t>[510] Hardware &amp; Network Egress Audit Invariants:</a:t>
            </a:r>
          </a:p>
          <a:p>
            <a:pPr>
              <a:spcBef>
                <a:spcPts val="400"/>
              </a:spcBef>
              <a:defRPr sz="1000">
                <a:solidFill>
                  <a:srgbClr val="334155"/>
                </a:solidFill>
                <a:latin typeface="Arial"/>
              </a:defRPr>
            </a:pPr>
            <a:r>
              <a:t>  • [512] Socket Trap Invariant: OS kernel and Libc network monitoring confirms 0 outbound cleartext TCP/UDP/TLS sockets opened. Net egress: 0 bytes.</a:t>
            </a:r>
          </a:p>
          <a:p>
            <a:pPr>
              <a:spcBef>
                <a:spcPts val="400"/>
              </a:spcBef>
              <a:defRPr sz="1000">
                <a:solidFill>
                  <a:srgbClr val="334155"/>
                </a:solidFill>
                <a:latin typeface="Arial"/>
              </a:defRPr>
            </a:pPr>
            <a:r>
              <a:t>  • [514] RAM Isolation Invariant: Memory allocation verified in tab-scoped volatile heap. Zero persistent cookies, zero local storage, and 0 bytes residual dump on session close.</a:t>
            </a:r>
          </a:p>
          <a:p>
            <a:pPr>
              <a:spcBef>
                <a:spcPts val="400"/>
              </a:spcBef>
              <a:defRPr sz="1000">
                <a:solidFill>
                  <a:srgbClr val="334155"/>
                </a:solidFill>
                <a:latin typeface="Arial"/>
              </a:defRPr>
            </a:pPr>
            <a:r>
              <a:t>  • [516] Cryptographic PCR State Binding: Any 1-bit mismatch in enclave image (PCR0), kernel (PCR1), or application (PCR2) triggers fail-closed termination in &lt;1 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822960"/>
          </a:xfrm>
          <a:prstGeom prst="rect">
            <a:avLst/>
          </a:prstGeom>
          <a:noFill/>
        </p:spPr>
        <p:txBody>
          <a:bodyPr wrap="square">
            <a:spAutoFit/>
          </a:bodyPr>
          <a:lstStyle/>
          <a:p>
            <a:pPr>
              <a:defRPr sz="2100" b="1">
                <a:solidFill>
                  <a:srgbClr val="FFFFFF"/>
                </a:solidFill>
                <a:latin typeface="Arial"/>
              </a:defRPr>
            </a:pPr>
            <a:r>
              <a:t>FIG. 6: Cross-Platform Enclaves &amp; Multi-Plane Deployment (Sheet 6 of 6)</a:t>
            </a:r>
          </a:p>
          <a:p>
            <a:pPr>
              <a:defRPr sz="1000" b="1">
                <a:solidFill>
                  <a:srgbClr val="38BDF8"/>
                </a:solidFill>
                <a:latin typeface="Arial"/>
              </a:defRPr>
            </a:pPr>
            <a:r>
              <a:t>HARDWARE PLATFORM PARITY &amp; UNIFIED CROSS-PLANE ENDPOINT TOPOLOGIES • IL 331905</a:t>
            </a:r>
          </a:p>
        </p:txBody>
      </p:sp>
      <p:pic>
        <p:nvPicPr>
          <p:cNvPr id="4" name="Picture 3" descr="sheet_6.png"/>
          <p:cNvPicPr>
            <a:picLocks noChangeAspect="1"/>
          </p:cNvPicPr>
          <p:nvPr/>
        </p:nvPicPr>
        <p:blipFill>
          <a:blip r:embed="rId2"/>
          <a:stretch>
            <a:fillRect/>
          </a:stretch>
        </p:blipFill>
        <p:spPr>
          <a:xfrm>
            <a:off x="548640" y="1234440"/>
            <a:ext cx="3721673" cy="5257800"/>
          </a:xfrm>
          <a:prstGeom prst="rect">
            <a:avLst/>
          </a:prstGeom>
        </p:spPr>
      </p:pic>
      <p:sp>
        <p:nvSpPr>
          <p:cNvPr id="5" name="Rounded Rectangle 4"/>
          <p:cNvSpPr/>
          <p:nvPr/>
        </p:nvSpPr>
        <p:spPr>
          <a:xfrm>
            <a:off x="4663440" y="1234440"/>
            <a:ext cx="6949440" cy="5257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325880"/>
            <a:ext cx="6583680" cy="5029200"/>
          </a:xfrm>
          <a:prstGeom prst="rect">
            <a:avLst/>
          </a:prstGeom>
          <a:noFill/>
        </p:spPr>
        <p:txBody>
          <a:bodyPr wrap="square">
            <a:spAutoFit/>
          </a:bodyPr>
          <a:lstStyle/>
          <a:p>
            <a:pPr>
              <a:defRPr sz="1200" b="1">
                <a:solidFill>
                  <a:srgbClr val="0F172A"/>
                </a:solidFill>
                <a:latin typeface="Arial"/>
              </a:defRPr>
            </a:pPr>
            <a:r>
              <a:t>CROSS-PLATFORM ENABLEMENT &amp; DEPLOYMENT TOPOLOGIES:</a:t>
            </a:r>
          </a:p>
          <a:p>
            <a:pPr>
              <a:spcBef>
                <a:spcPts val="400"/>
              </a:spcBef>
              <a:defRPr sz="1000">
                <a:solidFill>
                  <a:srgbClr val="334155"/>
                </a:solidFill>
                <a:latin typeface="Arial"/>
              </a:defRPr>
            </a:pPr>
            <a:r>
              <a:t>FIG. 6A: Cross-Platform Hardware Replication Benchmarks:</a:t>
            </a:r>
          </a:p>
          <a:p>
            <a:pPr>
              <a:spcBef>
                <a:spcPts val="400"/>
              </a:spcBef>
              <a:defRPr sz="1000">
                <a:solidFill>
                  <a:srgbClr val="334155"/>
                </a:solidFill>
                <a:latin typeface="Arial"/>
              </a:defRPr>
            </a:pPr>
            <a:r>
              <a:t>  • [602] Intel Xeon Platinum C6i (Ice Lake 3.5 GHz): Attestation doc gen: 14.2 ms; COSE verification: 1.84 ms; AF_VSOCK latency: 0.118 ms; Throughput: 1,808 RPS.</a:t>
            </a:r>
          </a:p>
          <a:p>
            <a:pPr>
              <a:spcBef>
                <a:spcPts val="400"/>
              </a:spcBef>
              <a:defRPr sz="1000">
                <a:solidFill>
                  <a:srgbClr val="334155"/>
                </a:solidFill>
                <a:latin typeface="Arial"/>
              </a:defRPr>
            </a:pPr>
            <a:r>
              <a:t>  • [604] AMD EPYC 7R13 C6a (Milan Zen 3): Attestation doc gen: 16.1 ms; COSE verification: 2.05 ms; AF_VSOCK latency: 0.124 ms; Throughput: 1,642 RPS.</a:t>
            </a:r>
          </a:p>
          <a:p>
            <a:pPr>
              <a:spcBef>
                <a:spcPts val="400"/>
              </a:spcBef>
              <a:defRPr sz="1000">
                <a:solidFill>
                  <a:srgbClr val="334155"/>
                </a:solidFill>
                <a:latin typeface="Arial"/>
              </a:defRPr>
            </a:pPr>
            <a:r>
              <a:t>FIG. 6B: Three Unified Endpoint Topologies Enforcing 0 Bytes Egress:</a:t>
            </a:r>
          </a:p>
          <a:p>
            <a:pPr>
              <a:spcBef>
                <a:spcPts val="400"/>
              </a:spcBef>
              <a:defRPr sz="1000">
                <a:solidFill>
                  <a:srgbClr val="334155"/>
                </a:solidFill>
                <a:latin typeface="Arial"/>
              </a:defRPr>
            </a:pPr>
            <a:r>
              <a:t>  • [610] Web Browser Extension: Manifest V3 sandbox, in-page DOM input field injection, zero remote code execution (&lt;1.8 ms latency, 0 bytes egress).</a:t>
            </a:r>
          </a:p>
          <a:p>
            <a:pPr>
              <a:spcBef>
                <a:spcPts val="400"/>
              </a:spcBef>
              <a:defRPr sz="1000">
                <a:solidFill>
                  <a:srgbClr val="334155"/>
                </a:solidFill>
                <a:latin typeface="Arial"/>
              </a:defRPr>
            </a:pPr>
            <a:r>
              <a:t>  • [612] Local MCP Guard: Intercepts Model Context Protocol stdio JSON-RPC streams in AI IDEs (Claude Desktop, Cursor, Windsurf) (&lt;0.4 ms latency, 0 bytes egress).</a:t>
            </a:r>
          </a:p>
          <a:p>
            <a:pPr>
              <a:spcBef>
                <a:spcPts val="400"/>
              </a:spcBef>
              <a:defRPr sz="1000">
                <a:solidFill>
                  <a:srgbClr val="334155"/>
                </a:solidFill>
                <a:latin typeface="Arial"/>
              </a:defRPr>
            </a:pPr>
            <a:r>
              <a:t>  • [614] Backend Headless SDK: In-memory stream hook for Python/Node.js/WASM pipelines prior to vector database ingestion (&lt;0.15 ms latency, 0 bytes egress).</a:t>
            </a:r>
          </a:p>
          <a:p>
            <a:pPr>
              <a:spcBef>
                <a:spcPts val="400"/>
              </a:spcBef>
              <a:defRPr sz="1000">
                <a:solidFill>
                  <a:srgbClr val="334155"/>
                </a:solidFill>
                <a:latin typeface="Arial"/>
              </a:defRPr>
            </a:pPr>
            <a:r>
              <a:t>[620] Multi-Plane Parity: Encrypted state handoff via XChaCha20-Poly1305 between planes.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822960"/>
          </a:xfrm>
          <a:prstGeom prst="rect">
            <a:avLst/>
          </a:prstGeom>
          <a:noFill/>
        </p:spPr>
        <p:txBody>
          <a:bodyPr wrap="square">
            <a:spAutoFit/>
          </a:bodyPr>
          <a:lstStyle/>
          <a:p>
            <a:pPr>
              <a:defRPr sz="2100" b="1">
                <a:solidFill>
                  <a:srgbClr val="FFFFFF"/>
                </a:solidFill>
                <a:latin typeface="Arial"/>
              </a:defRPr>
            </a:pPr>
            <a:r>
              <a:t>Patent Claims Architecture: Independent &amp; Dependent Claims Structure</a:t>
            </a:r>
          </a:p>
          <a:p>
            <a:pPr>
              <a:defRPr sz="1000" b="1">
                <a:solidFill>
                  <a:srgbClr val="38BDF8"/>
                </a:solidFill>
                <a:latin typeface="Arial"/>
              </a:defRPr>
            </a:pPr>
            <a:r>
              <a:t>CLAIM DRAFTING GUIDELINES FOR ISRAEL CONTINUATION &amp; WIPO PCT APPLICATION</a:t>
            </a:r>
          </a:p>
        </p:txBody>
      </p:sp>
      <p:sp>
        <p:nvSpPr>
          <p:cNvPr id="4" name="Rounded Rectangle 3"/>
          <p:cNvSpPr/>
          <p:nvPr/>
        </p:nvSpPr>
        <p:spPr>
          <a:xfrm>
            <a:off x="731520" y="1371600"/>
            <a:ext cx="10728655" cy="49377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4572000"/>
          </a:xfrm>
          <a:prstGeom prst="rect">
            <a:avLst/>
          </a:prstGeom>
          <a:noFill/>
        </p:spPr>
        <p:txBody>
          <a:bodyPr wrap="square">
            <a:spAutoFit/>
          </a:bodyPr>
          <a:lstStyle/>
          <a:p>
            <a:pPr>
              <a:defRPr sz="1400" b="1">
                <a:solidFill>
                  <a:srgbClr val="0F172A"/>
                </a:solidFill>
                <a:latin typeface="Arial"/>
              </a:defRPr>
            </a:pPr>
            <a:r>
              <a:t>PROPOSED CLAIMS HIERARCHY (SUPPORTED BY SHEETS 1–6)</a:t>
            </a:r>
          </a:p>
          <a:p>
            <a:pPr>
              <a:spcBef>
                <a:spcPts val="600"/>
              </a:spcBef>
              <a:defRPr sz="1000">
                <a:solidFill>
                  <a:srgbClr val="334155"/>
                </a:solidFill>
                <a:latin typeface="Arial"/>
              </a:defRPr>
            </a:pPr>
            <a:r>
              <a:t>• Claim 1 (Independent Method Claim - Core Engine): Method for zero-trust data sanitization within volatile RAM of a client computing device prior to network socket dispatch, comprising: intercepting raw text; linear O(N) DFA parsing; descending-offset string replacement with bracketed surrogate tokens [TYPE_N]; populating volatile bijective map; dispatching sanitized query Q_T with 0 bytes cleartext; receiving model response; and reconstructing cleartext locally via volatile map zeroization.</a:t>
            </a:r>
          </a:p>
          <a:p>
            <a:pPr>
              <a:spcBef>
                <a:spcPts val="600"/>
              </a:spcBef>
              <a:defRPr sz="1000">
                <a:solidFill>
                  <a:srgbClr val="334155"/>
                </a:solidFill>
                <a:latin typeface="Arial"/>
              </a:defRPr>
            </a:pPr>
            <a:r>
              <a:t>• Claim 2 (Dependent Claim - Hardware Memory Locking): The method of claim 1, wherein volatile memory allocated for the session mapping table is locked using operating system 'mlock' primitives to prevent cleartext leakage into disk swap partitions (Supported by FIG. 1 [108], FIG. 5 [514]).</a:t>
            </a:r>
          </a:p>
          <a:p>
            <a:pPr>
              <a:spcBef>
                <a:spcPts val="600"/>
              </a:spcBef>
              <a:defRPr sz="1000">
                <a:solidFill>
                  <a:srgbClr val="334155"/>
                </a:solidFill>
                <a:latin typeface="Arial"/>
              </a:defRPr>
            </a:pPr>
            <a:r>
              <a:t>• Claim 3 (Dependent Claim - Descending Character Sorter): The method of claim 1, wherein token replacement executes strictly in descending order of character start offsets, preventing upstream token insertions from displacing downstream index positions (Supported by FIG. 3 [308]).</a:t>
            </a:r>
          </a:p>
          <a:p>
            <a:pPr>
              <a:spcBef>
                <a:spcPts val="600"/>
              </a:spcBef>
              <a:defRPr sz="1000">
                <a:solidFill>
                  <a:srgbClr val="334155"/>
                </a:solidFill>
                <a:latin typeface="Arial"/>
              </a:defRPr>
            </a:pPr>
            <a:r>
              <a:t>• Claim 4 (Dependent Claim - Hardware Enclave Attestation): The method of claim 1, further comprising authenticating an AWS Nitro enclave via COSE-signed PCR0, PCR1, PCR2 measurements against Root CA over air-gapped AF_VSOCK (Supported by FIG. 1 [300], FIG. 2).</a:t>
            </a:r>
          </a:p>
          <a:p>
            <a:pPr>
              <a:spcBef>
                <a:spcPts val="600"/>
              </a:spcBef>
              <a:defRPr sz="1000">
                <a:solidFill>
                  <a:srgbClr val="334155"/>
                </a:solidFill>
                <a:latin typeface="Arial"/>
              </a:defRPr>
            </a:pPr>
            <a:r>
              <a:t>• Claim 5 (Dependent Claim - Attested Rehydration Continuity / Return-Path Binding): The method of claim 1, wherein the enclave response payload is cryptographically bound to the originating request identifier and client mapping epoch to eliminate cross-session context confusion (Supported by FIG. 2, Step 6-7).</a:t>
            </a:r>
          </a:p>
          <a:p>
            <a:pPr>
              <a:spcBef>
                <a:spcPts val="600"/>
              </a:spcBef>
              <a:defRPr sz="1000">
                <a:solidFill>
                  <a:srgbClr val="334155"/>
                </a:solidFill>
                <a:latin typeface="Arial"/>
              </a:defRPr>
            </a:pPr>
            <a:r>
              <a:t>• Claim 6 (Independent Apparatus Claim): Physical data processing system comprising host CPU, locked volatile RAM, and AF_VSOCK communications controller executing client DFA and hardware attester (Supported by FIG. 1, FIG. 6).</a:t>
            </a:r>
          </a:p>
          <a:p>
            <a:pPr>
              <a:spcBef>
                <a:spcPts val="600"/>
              </a:spcBef>
              <a:defRPr sz="1000">
                <a:solidFill>
                  <a:srgbClr val="334155"/>
                </a:solidFill>
                <a:latin typeface="Arial"/>
              </a:defRPr>
            </a:pPr>
            <a:r>
              <a:t>• Claim 7 (Independent Non-Transitory Computer-Readable Medium): Medium storing instructions for intercepting stdio streams in Model Context Protocol (MCP) AI agents and WebAssembly sandboxes (Supported by FIG. 6B [612, 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
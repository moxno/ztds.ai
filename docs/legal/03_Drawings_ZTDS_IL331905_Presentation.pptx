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ZTDS™ — Zero-Trust Data Sanitization</a:t>
            </a:r>
          </a:p>
          <a:p>
            <a:pPr>
              <a:spcBef>
                <a:spcPts val="1400"/>
              </a:spcBef>
              <a:defRPr sz="2400">
                <a:solidFill>
                  <a:srgbClr val="90CDF4"/>
                </a:solidFill>
                <a:latin typeface="Arial"/>
              </a:defRPr>
            </a:pPr>
            <a:r>
              <a:t>תיק שרטוטים הנדסי מלא עבור בקשת המשך לפטנט IL 331905</a:t>
            </a:r>
          </a:p>
          <a:p>
            <a:pPr>
              <a:spcBef>
                <a:spcPts val="24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Israel Patent Application IL 331905 • Priority Date: 14/09/2026 • WIPO DAS: B17B</a:t>
            </a:r>
            <a:br/>
            <a:r>
              <a:t>Prepared for Patent Attorney Naftali (עו"ד עריכת פטנטים נפתלי)</a:t>
            </a:r>
            <a:br/>
            <a:r>
              <a:t>Inventor &amp; Sole Applicant: Ilya Sibiryakov (איליה סיביריאקוב)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1: Three Decoupled Trust Planes Architecture (Sheet 1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מערכת מבוזרת מבודדת חומרה: שלושת מישורי האמון • Israel Patent App IL 331905</a:t>
            </a:r>
          </a:p>
        </p:txBody>
      </p:sp>
      <p:pic>
        <p:nvPicPr>
          <p:cNvPr id="4" name="Picture 3" descr="she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Client Endpoint Plane [100]: Local host CPU &amp; volatile RAM sandbox (mlock, zero disk).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[102] User Cleartext Input Buffer: Raw prompts, W-2, EHR PHI, API keys.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[104] Client DFA Engine (S_RAM): Linear O(N) regex scanning without ReDoS backtracking.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[106] Token Substitution: Replaces PII with deterministic [TYPE_N] surrogate tokens.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[108] Volatile Session Map (M_s): In-memory bijective map. Explicit zeroization on close.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[110] Sanitized Query Output (Q_T): Transmitted to network with 0 bytes cleartext PII.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[112] Local Rehydration Unit: Deterministic reverse mapping R_T -&gt; R_X in client RAM.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[200] Policy &amp; Attestation Plane (PDP): Nonce generator [202], Evidence appraisal [204], Session token [206].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[300] Hardware Enclave Plane (AWS Nitro): AF_VSOCK link [302], NSM attester [304], AI Core [306].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2: 7-Phase Remote Hardware Attestation Protocol (Sheet 2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פרוטוקול אימות חומרה והרשאה חסומה (Fail-Closed) ב-7 שלבים • Israel Patent App IL 331905</a:t>
            </a:r>
          </a:p>
        </p:txBody>
      </p:sp>
      <p:pic>
        <p:nvPicPr>
          <p:cNvPr id="4" name="Picture 3" descr="shee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1 (Challenge): PDP generates fresh 256-bit cryptographic challenge nonce (n_e).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2 (Attestation Evidence): NSM generates COSE-signed PCR0, PCR1, PCR2 hash evidence.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3 (Appraisal): PDP audits PCR state against AWS Nitro Root of Trust CA chain.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4 (Authorization Token): PDP mints short-lived session authorization ticket (τ_s).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5a (RAM Sanitization): Endpoint sanitizes input, populates volatile map M_s.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5b (Authorized Dispatch): (Q_T, τ_s) delivered via air-gapped AF_VSOCK socket.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6 (Enclave Return): Enclave executes inference, returns tokenized response (R_T).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Step 7 (Local Rehydration): Client UI reconstructs cleartext exclusively within client 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3: Client-Side S_RAM Engine &amp; Descending Sorter (Sheet 3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מבנה מנוע הסניטציה וממיין ההיסטים היורד (Crucial Invariant) • Israel Patent App IL 331905</a:t>
            </a:r>
          </a:p>
        </p:txBody>
      </p:sp>
      <p:pic>
        <p:nvPicPr>
          <p:cNvPr id="4" name="Picture 3" descr="shee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[302] Raw Input Buffer: Streaming input from browser, IDE, or CLI.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[304] Multi-Profile DFA Matcher: 4 specialized profiles: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[304A] General: Names, Phones, Emails, National ID/SSN.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[304B] Finance: IBAN, GL accounts, W-2 tax boxes.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[304C] Medical: HIPAA Safe Harbor 18 identifiers, Medical Record Numbers (MRN).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[304D] DevOps/API: AWS Access Keys, JWT tokens, DB URIs, passwords.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[306] Offset Extraction Buffer: Tuples {type, start_offset, end_offset, cleartext}.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[308] Descending Offset Sorter (CRITICAL INVENTIVE STEP):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Sorts all detected spans by start_offset DESCENDING (right-to-left).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INVARIANT: Token replacement alters string length; sorting descending guarantees prior entity offsets remain valid.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[310] Token Allocator -&gt; [312] Volatile Map M_s -&gt; [314] Q_T Output -&gt; [316] Detokenizer.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4: Empirical Latency &amp; Throughput Scaling (Sheet 4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הוכחת תוצאה טכנית: השהיה ותפוקה מול פרוקסי ענן קונבנציונלי • Israel Patent App IL 331905</a:t>
            </a:r>
          </a:p>
        </p:txBody>
      </p:sp>
      <p:pic>
        <p:nvPicPr>
          <p:cNvPr id="4" name="Picture 3" descr="shee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Technical Effect: Demonstrates decisive latency and throughput advantages over centralized HTTPS proxies.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FIG. 4A (Latency Scaling vs Payload Size):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1 KiB payload: ZTDS achieves 0.553 ms vs 0.929 ms legacy proxy (1.68x faster).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4 KiB payload: ZTDS achieves 1.360 ms vs 1.768 ms legacy proxy (1.30x faster).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Convergence at 16-64 KiB as payload processing dominates transport overhead.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FIG. 4B (Steady-State Throughput Scaling):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1 KiB payload: 1,808 RPS (ZTDS) vs 1,057 RPS (Proxy) = 1.71x throughput.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4 KiB payload: 735 RPS (ZTDS) vs 556 RPS (Proxy) = 1.32x throughput.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Patent Significance: Establishes clear technological improvement under 35 U.S.C. § 101.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5: Validation Matrix &amp; Hardware Egress Verification (Sheet 5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מטריצת ולידציה וביקורת אפס זליגת חומרה ורשת • Israel Patent App IL 331905</a:t>
            </a:r>
          </a:p>
        </p:txBody>
      </p:sp>
      <p:pic>
        <p:nvPicPr>
          <p:cNvPr id="4" name="Picture 3" descr="shee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[500] Held-Out Enterprise Matrix: 1,925 annotated entities across 3 frozen corpora: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[502A] W-2 / Corporate Payroll (625 entities): Precision 1.000, Recall 1.000, F1 1.000.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[502B] EHR / Clinical Notes (600 entities): Precision 1.000, Recall 1.000, F1 1.000.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[502C] DevOps / Cloud Code Logs (700 entities): Precision 1.000, Recall 1.000, F1 1.000.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[504] Aggregate: 1,925/1,925 perfect detection without false positives/negatives.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[510] Hardware &amp; Network Audit Invariants: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[512] Socket Trap: Libc socket trapping proves 0 outbound cleartext sockets.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[514] RAM Isolation: 0 residual memory bytes on session termination.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[516] PCR Binding: PCR0 (EIF), PCR1 (Kernel), PCR2 (App). Fail-closed in &lt;1 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FIG. 6: Cross-Platform Hardware &amp; Multi-Plane Deployment (Sheet 6 of 6)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השוואת מעבדי חומרה ותצורות פריסת קצה אחידות • Israel Patent App IL 331905</a:t>
            </a:r>
          </a:p>
        </p:txBody>
      </p:sp>
      <p:pic>
        <p:nvPicPr>
          <p:cNvPr id="4" name="Picture 3" descr="shee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1876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18872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FIG. 6A (Enclave Microarchitecture Benchmarks):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[602] Intel Xeon Platinum C6i: 14.2 ms attestation, 0.118 ms vsock, 1,808 RPS.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[604] AMD EPYC 7R13 C6a: 16.1 ms attestation, 0.124 ms vsock, 1,642 RPS.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FIG. 6B (3 Client Deployment Topologies - 0 Bytes Cleartext Egress):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[610] Web Browser Extension: Manifest V3 sandbox, DOM injection (&lt;1.8 ms).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[612] Local MCP Guard: Stdio JSON-RPC for Claude/Cursor agents (&lt;0.4 ms).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  • [614] Backend Headless SDK: In-memory stream hook for LangChain/LlamaIndex (&lt;0.15 ms).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[620] Multi-Plane Parity Invariant: Shared DFA engines; encrypted session handoff via XChaCha20-Poly1305.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Patent Specification &amp; Claims Lexicon (מונחי מפתח לניסוח התביעות)</a:t>
            </a:r>
          </a:p>
          <a:p>
            <a:pPr>
              <a:defRPr sz="1100">
                <a:solidFill>
                  <a:srgbClr val="BEE3F8"/>
                </a:solidFill>
                <a:latin typeface="Arial"/>
              </a:defRPr>
            </a:pPr>
            <a:r>
              <a:t>Independent and Dependent Claims Terminology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Client Computing Device / Endpoint [100]: התקן מחשוב של לקוח הכולל מעבד מארח וזיכרון נדיף מבודד.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Volatile Host Memory / Isolated RAM Sandbox [100, 108, 312]: זיכרון נדיף נעול מפני דפדוף (mlock) המוחק את תוכנו לחלוטין בסיום סשן.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Deterministic Finite Automaton (DFA) Lexical Matcher [104, 304]: מנוע סריקה לקסיקלי בעל סיבוכיות ליניארית O(N) ללא סכנת ReDoS.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Descending Character Offset Sorter [106, 308]: ממיין היסטים בסדר יורד המבטיח החלפה מהסוף להתחלה ומניעת שיבוש אינדקסים.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Bidirectional Surrogate Session Mapping Table [108, 312]: טבלת גיבוב דו-כיוונית ב-RAM המקשרת חד-חד-ערכית בין טוקן לערך גולמי.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Cryptographic Memory Zeroization Primitive [108, 514]: הוראת מעבד פיזית לאיפוס קריפטוגרפי של מבנה הנתונים ב-RAM.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Hardware-Attested Confidential Execution Enclave [300]: מובלעת חומרה מבודדת (Nitro) הפועלת ללא כרטיסי רשת וללא דיסק.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Isolated Hypervisor Inter-Process Channel (AF_VSOCK) [302]: אפיק תקשורת פנימי מבודד של ההייפרווייזור ללא חיבור לאינטרנט.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Platform Configuration Registers (PCR) State Binding [204, 206, 516]: הצמדת הרשאות לגיבובי החומרה (PCR0/1/2) של האנקלב עם נעילת Fail-Closed.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Hardware-Attested Return-Path Session Continuation (ZTDS-ARC) [112, 316]: מנגנון אימות חומרה על נתיב החזרה המונע בלבול הקשר בין סשנים שונים.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